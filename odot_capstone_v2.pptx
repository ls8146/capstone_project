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0860" autoAdjust="0"/>
  </p:normalViewPr>
  <p:slideViewPr>
    <p:cSldViewPr snapToGrid="0" snapToObjects="1">
      <p:cViewPr varScale="1">
        <p:scale>
          <a:sx n="102" d="100"/>
          <a:sy n="102" d="100"/>
        </p:scale>
        <p:origin x="8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vi Sayles" userId="b70c307328e0b0a4" providerId="LiveId" clId="{40A7F1F1-99E6-4B61-A3C7-024DC74A8449}"/>
    <pc:docChg chg="modSld">
      <pc:chgData name="Levi Sayles" userId="b70c307328e0b0a4" providerId="LiveId" clId="{40A7F1F1-99E6-4B61-A3C7-024DC74A8449}" dt="2026-04-16T17:25:09.850" v="0" actId="729"/>
      <pc:docMkLst>
        <pc:docMk/>
      </pc:docMkLst>
      <pc:sldChg chg="mod modShow">
        <pc:chgData name="Levi Sayles" userId="b70c307328e0b0a4" providerId="LiveId" clId="{40A7F1F1-99E6-4B61-A3C7-024DC74A8449}" dt="2026-04-16T17:25:09.850" v="0" actId="729"/>
        <pc:sldMkLst>
          <pc:docMk/>
          <pc:sldMk cId="0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142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2 better. Needs to be pretty brief for the most part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visuals from case study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you understand selection bias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fix 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like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25312" y="0"/>
            <a:ext cx="45720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Safety Dollars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Lives?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ODOT's Road Construction Investments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2648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Capstone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1325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182880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 Sayles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University  ·  2025–2026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328,000 road segments  ·  910,000 crashes  ·  13,550 safety projects  ·  5 years of data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91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Started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5720" cy="1188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ODOT's public crash records, road inventory, pavement condition scores, and construction project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402336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5720" cy="11887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1 — Initial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early findings to a group of ODOT engineers and planners. Walked through crash patterns, project locations, and preliminary DiD results.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402336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5720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7490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2 — Results Confirmed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final findings. ODOT confirmed the results reflect patterns they recognize — including the investment gap on local and collector roads.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1A2E45"/>
          </a:solidFill>
          <a:ln w="1905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4937760" y="169164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 for projects based on current needs — but we never go back to evaluate them.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937760" y="3429000"/>
            <a:ext cx="320040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3520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ODOT Engineer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9319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an attempt to change that.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University  |  Data Science Capstone  | 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91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560320" cy="1463040"/>
          </a:xfrm>
          <a:prstGeom prst="rect">
            <a:avLst/>
          </a:prstGeom>
          <a:solidFill>
            <a:srgbClr val="1E3A52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1,390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883664"/>
            <a:ext cx="237744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Ohio Traffic Fatalities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560320" cy="1463040"/>
          </a:xfrm>
          <a:prstGeom prst="rect">
            <a:avLst/>
          </a:prstGeom>
          <a:solidFill>
            <a:srgbClr val="1E3A52"/>
          </a:solidFill>
          <a:ln w="1905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09728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$140M+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1883664"/>
            <a:ext cx="237744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Construction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2023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560320" cy="1463040"/>
          </a:xfrm>
          <a:prstGeom prst="rect">
            <a:avLst/>
          </a:prstGeom>
          <a:solidFill>
            <a:srgbClr val="1E3A52"/>
          </a:solidFill>
          <a:ln w="1905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09728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13,550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1883664"/>
            <a:ext cx="237744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Safety-Funded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(2020–24)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8229600" cy="1371600"/>
          </a:xfrm>
          <a:prstGeom prst="rect">
            <a:avLst/>
          </a:prstGeom>
          <a:solidFill>
            <a:srgbClr val="1E3A52"/>
          </a:solidFill>
          <a:ln w="1905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7432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Ohio spends money on road safety construction,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actually make roads safer?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University  |  Data Science Capstone  | 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91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Datasets. One Pipeline.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65960" cy="2011680"/>
          </a:xfrm>
          <a:prstGeom prst="rect">
            <a:avLst/>
          </a:prstGeom>
          <a:solidFill>
            <a:srgbClr val="1A2E45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5720" cy="2011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~910,000 events · 2020–2024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location, severity, year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2011680"/>
            <a:ext cx="18288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14600" y="1005840"/>
            <a:ext cx="1965960" cy="2011680"/>
          </a:xfrm>
          <a:prstGeom prst="rect">
            <a:avLst/>
          </a:prstGeom>
          <a:solidFill>
            <a:srgbClr val="1A2E4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14600" y="1005840"/>
            <a:ext cx="45720" cy="20116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5176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Inventory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146304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328,709 segments · Statewide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ADT, road class, speed limit, length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2011680"/>
            <a:ext cx="18288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1965960" cy="2011680"/>
          </a:xfrm>
          <a:prstGeom prst="rect">
            <a:avLst/>
          </a:prstGeom>
          <a:solidFill>
            <a:srgbClr val="1A2E45"/>
          </a:solidFill>
          <a:ln w="1270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5720" cy="20116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Pavement Condition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46304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State PCR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score, IRI, distress indicators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9400" y="2011680"/>
            <a:ext cx="18288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12280" y="1005840"/>
            <a:ext cx="1965960" cy="2011680"/>
          </a:xfrm>
          <a:prstGeom prst="rect">
            <a:avLst/>
          </a:prstGeom>
          <a:solidFill>
            <a:srgbClr val="1A2E45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12280" y="1005840"/>
            <a:ext cx="45720" cy="2011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944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Projects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146304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13,550 safety-funded projects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mileposts, type, cost, date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71600" y="3246120"/>
            <a:ext cx="6400800" cy="1097280"/>
          </a:xfrm>
          <a:prstGeom prst="rect">
            <a:avLst/>
          </a:prstGeom>
          <a:solidFill>
            <a:srgbClr val="1A2E45"/>
          </a:solidFill>
          <a:ln w="254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71600" y="3246120"/>
            <a:ext cx="64008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463040" y="33375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Analysis Dataset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37490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328,709 segments  ·  5 years  ·  Panel structure  ·  Crash rate per million vehicle miles traveled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University  |  Data Science Capstone  | 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91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572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Spatial Join — Crashes to Roads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records are GPS points. Road segments are lines. No shared ID exists between them. Used st_nearest_feature() to match each of 910,000 crashes to its closest road segment geometry.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841248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5720" cy="10972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313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CTL Range Overlap — Projects to Segments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243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are defined by route + milepost range. A simple ID match pulls in entire routes — miles of unrelated road. Wrote a range overlap filter: segment must physically intersect the project's milepost boundaries.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5720" cy="10972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5478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Panel Data Structure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8587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328,000 segments × 5 years. Required aggregating crashes by segment and year, computing exposure-adjusted crash rates using vehicle miles traveled, and dropping 2022 as a transition year.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University  |  Data Science Capstone  | 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91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Measure Impact?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3657600"/>
          </a:xfrm>
          <a:prstGeom prst="rect">
            <a:avLst/>
          </a:prstGeom>
          <a:solidFill>
            <a:srgbClr val="1A2E45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93192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Difference-in-Differences (DiD)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292608" cy="29260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5361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crash rates on treated roads before vs after construction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240280"/>
            <a:ext cx="292608" cy="29260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2219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crash rates on similar untreated roads over the same period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292608" cy="29260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9077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those two differences = the project effect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657600"/>
            <a:ext cx="365760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for this project?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0050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receiving safety funding are not random — they are already known problem roads. DiD controls for this by comparing change over time rather than raw levels, removing baseline differences between treated and untreated roads.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4114800" cy="365760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2286000"/>
            <a:ext cx="73152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43600" y="2286000"/>
            <a:ext cx="274320" cy="54864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17920" y="2834640"/>
            <a:ext cx="73152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9516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road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12080" y="3200400"/>
            <a:ext cx="1737360" cy="0"/>
          </a:xfrm>
          <a:prstGeom prst="line">
            <a:avLst/>
          </a:prstGeom>
          <a:noFill/>
          <a:ln w="25400">
            <a:solidFill>
              <a:srgbClr val="7A9BB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95160" y="31272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road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2011680"/>
            <a:ext cx="0" cy="146304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715000" y="169164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766560" y="2834640"/>
            <a:ext cx="0" cy="36576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84848" y="281635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00600" y="3657600"/>
            <a:ext cx="3840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00600" y="376732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Segment + year fixed effects  ·  SE clustered at segment level  ·  ADT-matched controls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University  |  Data Science Capstone  | 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91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Finding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1417320"/>
          </a:xfrm>
          <a:prstGeom prst="rect">
            <a:avLst/>
          </a:prstGeom>
          <a:solidFill>
            <a:srgbClr val="1A2E45"/>
          </a:solidFill>
          <a:ln w="12700">
            <a:solidFill>
              <a:srgbClr val="7A9BB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33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EFFECT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0.185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statistically significant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3931920" cy="1417320"/>
          </a:xfrm>
          <a:prstGeom prst="rect">
            <a:avLst/>
          </a:prstGeom>
          <a:solidFill>
            <a:srgbClr val="1A2E45"/>
          </a:solidFill>
          <a:ln w="254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033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IMPROVEMENTS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83480" y="129844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983480" y="18470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crashes/MVMT — only category with a clear signal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5968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by Project Type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4023360" cy="329184"/>
          </a:xfrm>
          <a:prstGeom prst="rect">
            <a:avLst/>
          </a:prstGeom>
          <a:solidFill>
            <a:srgbClr val="1A2E45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907792"/>
            <a:ext cx="36576" cy="329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2971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Improvement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2971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−6.54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23360" cy="329184"/>
          </a:xfrm>
          <a:prstGeom prst="rect">
            <a:avLst/>
          </a:prstGeom>
          <a:solidFill>
            <a:srgbClr val="1A2E45"/>
          </a:solidFill>
          <a:ln w="12700">
            <a:solidFill>
              <a:srgbClr val="7A9B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36576" cy="329184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33558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Facilities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33558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675888"/>
            <a:ext cx="4023360" cy="329184"/>
          </a:xfrm>
          <a:prstGeom prst="rect">
            <a:avLst/>
          </a:prstGeom>
          <a:solidFill>
            <a:srgbClr val="1A2E45"/>
          </a:solidFill>
          <a:ln w="12700">
            <a:solidFill>
              <a:srgbClr val="7A9B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3675888"/>
            <a:ext cx="36576" cy="329184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" y="3739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Roadway Minor Rehab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37398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059936"/>
            <a:ext cx="4023360" cy="329184"/>
          </a:xfrm>
          <a:prstGeom prst="rect">
            <a:avLst/>
          </a:prstGeom>
          <a:solidFill>
            <a:srgbClr val="1A2E45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4059936"/>
            <a:ext cx="36576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" y="41239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/ Median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0" y="41239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443984"/>
            <a:ext cx="4023360" cy="329184"/>
          </a:xfrm>
          <a:prstGeom prst="rect">
            <a:avLst/>
          </a:prstGeom>
          <a:solidFill>
            <a:srgbClr val="1A2E45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" y="4443984"/>
            <a:ext cx="36576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" y="4507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Control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0" y="4507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+2.49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77316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per MVMT vs comparable untreated roads</a:t>
            </a:r>
            <a:endParaRPr lang="en-US" sz="800" dirty="0"/>
          </a:p>
        </p:txBody>
      </p:sp>
      <p:pic>
        <p:nvPicPr>
          <p:cNvPr id="36" name="Image 0" descr="/mnt/user-data/uploads/fig2_pres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578608"/>
            <a:ext cx="4297680" cy="214884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University  |  Data Science Capstone  | 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91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UNPACKING THE RESULT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What's Actually Happening?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solidFill>
            <a:srgbClr val="1A2E45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9875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 overall result doesn't mean nothing is happening — it means very different outcomes are being averaged together.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697480" cy="2880360"/>
          </a:xfrm>
          <a:prstGeom prst="rect">
            <a:avLst/>
          </a:prstGeom>
          <a:solidFill>
            <a:srgbClr val="1A2E45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26974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Plainfield Rd Roundabouts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1762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Improvement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83080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6700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3080" y="26700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" y="3090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45.2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" y="3410712"/>
            <a:ext cx="24688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34747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redesign of how vehicles interact. Eliminates the most dangerous crash types.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1737360"/>
            <a:ext cx="2697480" cy="2880360"/>
          </a:xfrm>
          <a:prstGeom prst="rect">
            <a:avLst/>
          </a:prstGeom>
          <a:solidFill>
            <a:srgbClr val="1A2E45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46120" y="1737360"/>
            <a:ext cx="26974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55848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Corridor VAR TSG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21762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Control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55848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55848" y="26700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63440" y="26700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355848" y="3090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14.9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355848" y="3410712"/>
            <a:ext cx="24688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55848" y="34747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timing changes redirected traffic patterns in ways that increased conflict points.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1737360"/>
            <a:ext cx="2697480" cy="2880360"/>
          </a:xfrm>
          <a:prstGeom prst="rect">
            <a:avLst/>
          </a:prstGeom>
          <a:solidFill>
            <a:srgbClr val="1A2E45"/>
          </a:solidFill>
          <a:ln w="19050">
            <a:solidFill>
              <a:srgbClr val="7A9BB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1737360"/>
            <a:ext cx="2697480" cy="54864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36208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32 / SR 125 Overlay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36208" y="21762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Roadway Minor Rehab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36208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43800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36208" y="26700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543800" y="26700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236208" y="3090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0.0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36208" y="3410712"/>
            <a:ext cx="24688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36208" y="34747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overlay makes the road smoother. Doesn't change geometry, speed, or conflict points.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University  |  Data Science Capstone  | 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91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GAP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Money Going?</a:t>
            </a:r>
            <a:endParaRPr lang="en-US" sz="2800" dirty="0"/>
          </a:p>
        </p:txBody>
      </p:sp>
      <p:pic>
        <p:nvPicPr>
          <p:cNvPr id="5" name="Image 0" descr="/mnt/user-data/uploads/R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868680"/>
            <a:ext cx="5212080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" y="1417320"/>
            <a:ext cx="3200400" cy="960120"/>
          </a:xfrm>
          <a:prstGeom prst="rect">
            <a:avLst/>
          </a:prstGeom>
          <a:solidFill>
            <a:srgbClr val="1E3A52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30175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57200" y="1993392"/>
            <a:ext cx="30175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Ohio fatalities 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FC4 + FC5 roads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514600"/>
            <a:ext cx="3200400" cy="960120"/>
          </a:xfrm>
          <a:prstGeom prst="rect">
            <a:avLst/>
          </a:prstGeom>
          <a:solidFill>
            <a:srgbClr val="1E3A52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2606040"/>
            <a:ext cx="30175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57200" y="3090672"/>
            <a:ext cx="30175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safety funding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local roads (FC7)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3611880"/>
            <a:ext cx="3200400" cy="960120"/>
          </a:xfrm>
          <a:prstGeom prst="rect">
            <a:avLst/>
          </a:prstGeom>
          <a:solidFill>
            <a:srgbClr val="1E3A52"/>
          </a:solidFill>
          <a:ln w="1905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3703320"/>
            <a:ext cx="30175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39.5%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457200" y="4187952"/>
            <a:ext cx="30175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safety funding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major arterials (FC3)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University  |  Data Science Capstone  | 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91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Question Needs to Be Asked Every Year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1A2E45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2412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ODOT spends safety dollars every year. New projects complete every year. New crash data arrives every year. A one-time analysis doesn't solve that — it just answers the question once.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384048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Analysis takes months to run manually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51960" y="2057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754880" y="1874520"/>
            <a:ext cx="402336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2011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Pre-computed data loads instantly for any county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384048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971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Results buried in R scripts no one else can run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51960" y="3017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402336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2971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Interactive app — no coding required, any analyst can use 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384048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931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Findings specific to 2020–2024 only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51960" y="3977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754880" y="3794760"/>
            <a:ext cx="402336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3931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Upload new crash and project data annually to refresh everything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727448"/>
            <a:ext cx="8412480" cy="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University  |  Data Science Capstone  | 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91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ODOT Safety Investment Analyzer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Shiny application that makes this entire analysis reusable — any county, any district, any year, no coding required.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697480" cy="1234440"/>
          </a:xfrm>
          <a:prstGeom prst="rect">
            <a:avLst/>
          </a:prstGeom>
          <a:solidFill>
            <a:srgbClr val="1A2E45"/>
          </a:solidFill>
          <a:ln w="1905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69748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618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9842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profile for any Ohio county — crash rates, fatality share, funding distribution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697480" cy="1234440"/>
          </a:xfrm>
          <a:prstGeom prst="rect">
            <a:avLst/>
          </a:prstGeom>
          <a:solidFill>
            <a:srgbClr val="1A2E45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508760"/>
            <a:ext cx="26974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55848" y="1618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Evaluator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9842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crash trends for any project. Individual or aggregate by project type.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697480" cy="1234440"/>
          </a:xfrm>
          <a:prstGeom prst="rect">
            <a:avLst/>
          </a:prstGeom>
          <a:solidFill>
            <a:srgbClr val="1A2E45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36208" y="1618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Explorer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6208" y="19842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untreated segments in any county. Click to see location on map.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2697480" cy="1234440"/>
          </a:xfrm>
          <a:prstGeom prst="rect">
            <a:avLst/>
          </a:prstGeom>
          <a:solidFill>
            <a:srgbClr val="1A2E45"/>
          </a:solidFill>
          <a:ln w="1905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697480" cy="5486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3035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Gap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3401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vs risk by road class. Statewide or county-level. Two metric options.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2926080"/>
            <a:ext cx="2697480" cy="1234440"/>
          </a:xfrm>
          <a:prstGeom prst="rect">
            <a:avLst/>
          </a:prstGeom>
          <a:solidFill>
            <a:srgbClr val="1A2E45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46120" y="2926080"/>
            <a:ext cx="26974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55848" y="3035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Effectiveness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55848" y="3401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cost vs crash rate change. Every project as a point. Who delivers value?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University  |  Data Science Capstone  | 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91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 COUNTY DEEP 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from District 8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784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DEMO  —  ODOT Safety Investment Analyzer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73352"/>
            <a:ext cx="320040" cy="3200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63677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Dashboard → HAM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roads: 41 crashes/MVMT. Interstates: 19. Interstates get 33% of funding.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320040" cy="3200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29514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Gap → By County → HAM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53288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Interstates capture 63% of safety dollars — the safest roads in the county.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90088"/>
            <a:ext cx="320040" cy="3200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990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9535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Evaluator → Plainfield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1912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rate: 75.3 → 30.1 after roundabout completion. A 60% reduction.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648456"/>
            <a:ext cx="320040" cy="3200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648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611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 Trend → Statewide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8496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improvements show consistent downward trend statewide.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306824"/>
            <a:ext cx="320040" cy="3200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4306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2702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Effectiveness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507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Plainfield roundabout: expensive, but clearly effective. Cost ≠ outcome.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University  |  Data Science Capstone  | 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91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This Hard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417320"/>
          </a:xfrm>
          <a:prstGeom prst="rect">
            <a:avLst/>
          </a:prstGeom>
          <a:solidFill>
            <a:srgbClr val="1A2E45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5720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Bias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funds go to roads already flagged as problems — not random roads. Addressed with segment fixed effects and ADT matching, but cannot be fully eliminated in observational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1417320"/>
          </a:xfrm>
          <a:prstGeom prst="rect">
            <a:avLst/>
          </a:prstGeom>
          <a:solidFill>
            <a:srgbClr val="1A2E4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572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to the Mean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630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get funded during crash spikes. Crash rates naturally fluctuate — a bad year tends to be followed by a better one regardless of intervention. A classic statistical pattern.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114800" cy="1417320"/>
          </a:xfrm>
          <a:prstGeom prst="rect">
            <a:avLst/>
          </a:prstGeom>
          <a:solidFill>
            <a:srgbClr val="1A2E45"/>
          </a:solidFill>
          <a:ln w="1270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45720" cy="14173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6974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Causation vs Correlation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crash rates drop after a project, how do we know the project caused it and not just random variation? We cannot run a controlled experiment. DiD gets closer to causation, but cannot fully eliminate unobserved confounders.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606040"/>
            <a:ext cx="4114800" cy="1417320"/>
          </a:xfrm>
          <a:prstGeom prst="rect">
            <a:avLst/>
          </a:prstGeom>
          <a:solidFill>
            <a:srgbClr val="1A2E4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2606040"/>
            <a:ext cx="45720" cy="1417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26974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Safety Funding Labels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0632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ODOT flagged that some projects are labeled safety-funded but only partially draw from safety dollars. Our cost effectiveness estimates use total project cost — a conservative interpretation.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University  |  Data Science Capstone  | 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91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143000" y="1188720"/>
            <a:ext cx="0" cy="73152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25880" y="107899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Improvements 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408176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project type with a clear, consistent, replicable safety return. Expensive but effective — and underrepresented in Ohio's safety portfolio relative to demonstrated impact.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841248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143000" y="2423160"/>
            <a:ext cx="0" cy="73152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25880" y="231343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Label Is Applied Too Broadly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642616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Pavement overlays show no crash reduction effect — but their value is preventative, not corrective. Good pavement prevents blowouts and improves braking. That benefit doesn't show up in before-after crash rate comparisons.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841248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143000" y="3657600"/>
            <a:ext cx="0" cy="73152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25880" y="354787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Roads Are Underserved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877056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FC4 and FC5 roads account for over 52% of Ohio fatalities but receive less than 30% of safety funding. Local roads have the highest crash rate per trip in the network and receive 1.4% of safety dollars.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University  |  Data Science Capstone  | 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25312" y="0"/>
            <a:ext cx="45720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safety dollars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lives?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entirely on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spend them.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to make better decisions already exists.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an attempt to make it easier to use.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83680" y="1874520"/>
            <a:ext cx="182880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26480" y="2743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 Sayles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University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Capstone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328K segments  ·  910K crashes  ·  13,550 projects  ·  5 years  ·  88 counties  ·  p = 0.185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1568</Words>
  <Application>Microsoft Office PowerPoint</Application>
  <PresentationFormat>On-screen Show (16:9)</PresentationFormat>
  <Paragraphs>246</Paragraphs>
  <Slides>15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Safety Dollars Save Lives?</dc:title>
  <dc:subject>PptxGenJS Presentation</dc:subject>
  <dc:creator>PptxGenJS</dc:creator>
  <cp:lastModifiedBy>Levi Sayles</cp:lastModifiedBy>
  <cp:revision>3</cp:revision>
  <dcterms:created xsi:type="dcterms:W3CDTF">2026-04-13T02:54:23Z</dcterms:created>
  <dcterms:modified xsi:type="dcterms:W3CDTF">2026-04-16T17:25:20Z</dcterms:modified>
</cp:coreProperties>
</file>